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74" r:id="rId7"/>
    <p:sldId id="275" r:id="rId8"/>
    <p:sldId id="260" r:id="rId9"/>
    <p:sldId id="264" r:id="rId10"/>
    <p:sldId id="261" r:id="rId11"/>
    <p:sldId id="272" r:id="rId12"/>
    <p:sldId id="27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36" autoAdjust="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3a1a7e66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3b3a1a7e6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b3a1a7e66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3b3a1a7e6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644aad2a8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0644aad2a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644aad2a8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0644aad2a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2533650"/>
            <a:ext cx="9144000" cy="124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r>
              <a:rPr lang="en-IN" sz="1800" b="1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DEPARTMENT OF COMPUTER SCIENCE ENGINEERING</a:t>
            </a:r>
            <a:br>
              <a:rPr lang="en-IN" sz="1800" b="1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</a:br>
            <a:r>
              <a:rPr lang="en-IN" sz="1800" dirty="0">
                <a:latin typeface="Times New Roman" panose="02020603050405020304" pitchFamily="18" charset="0"/>
                <a:ea typeface="Bookman Old Style"/>
                <a:cs typeface="Times New Roman" panose="02020603050405020304" pitchFamily="18" charset="0"/>
                <a:sym typeface="Bookman Old Style"/>
              </a:rPr>
              <a:t>Session 2025-2026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Presentation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Soil Hydration Intelligence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4143737"/>
            <a:ext cx="9144000" cy="230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>
              <a:spcBef>
                <a:spcPts val="0"/>
              </a:spcBef>
              <a:buSzPct val="37304"/>
            </a:pPr>
            <a:r>
              <a:rPr lang="en-IN" sz="64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Id</a:t>
            </a:r>
            <a:r>
              <a:rPr lang="en-IN" sz="64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PCSE26-05</a:t>
            </a:r>
            <a:endParaRPr lang="en-IN" sz="64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endParaRPr lang="en-IN" sz="64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r>
              <a:rPr lang="en-IN" sz="64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: </a:t>
            </a:r>
            <a:r>
              <a:rPr lang="en-IN" sz="64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Himanshi Chaudhary (Assistant Professor, CSE Dept. K.I.E.T. Group of Institutions)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r>
              <a:rPr lang="en-IN" sz="64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 : </a:t>
            </a:r>
            <a:endParaRPr sz="643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r>
              <a:rPr lang="en-IN" sz="64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Omendra Rajput</a:t>
            </a:r>
            <a:endParaRPr sz="64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r>
              <a:rPr lang="en-IN" sz="64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Ashwani Baghel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r>
              <a:rPr lang="en-IN" sz="64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Vaibhav Singh</a:t>
            </a:r>
            <a:endParaRPr sz="64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7304"/>
              <a:buNone/>
            </a:pPr>
            <a:r>
              <a:rPr lang="en-IN" sz="64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Utkarsh Patel</a:t>
            </a:r>
            <a:endParaRPr sz="64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6950" tIns="22200" rIns="91425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862" y="404332"/>
            <a:ext cx="11112758" cy="102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6950" tIns="22200" rIns="91425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862" y="404332"/>
            <a:ext cx="11112758" cy="102354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22825" y="1816825"/>
            <a:ext cx="60975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Table of content: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22825" y="2476499"/>
            <a:ext cx="7014900" cy="38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1.TITLE PAGE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2.PROBLEM STATEMENT 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3.OBJECTIVES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4.Project Scope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5.Methodology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6.Technology Used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7.Project Outcome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8.Project Conclusion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526101" y="1783427"/>
            <a:ext cx="11139777" cy="46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SIH-1554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0" y="402304"/>
            <a:ext cx="11139778" cy="1141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1863600" y="2352575"/>
            <a:ext cx="8464800" cy="3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10" name="Google Shape;110;p15"/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30980"/>
                </a:srgbClr>
              </a:gs>
              <a:gs pos="19000">
                <a:srgbClr val="000000">
                  <a:alpha val="30980"/>
                </a:srgbClr>
              </a:gs>
              <a:gs pos="99000">
                <a:schemeClr val="accent1"/>
              </a:gs>
              <a:gs pos="100000">
                <a:schemeClr val="accent1"/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11704320" y="6451877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100">
                <a:solidFill>
                  <a:srgbClr val="FFFFFF"/>
                </a:solidFill>
              </a:rPr>
              <a:t>3</a:t>
            </a:fld>
            <a:endParaRPr sz="1100">
              <a:solidFill>
                <a:srgbClr val="FFFFF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577175-3FCD-07A0-FC27-7762F43CA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56159"/>
              </p:ext>
            </p:extLst>
          </p:nvPr>
        </p:nvGraphicFramePr>
        <p:xfrm>
          <a:off x="526101" y="2247826"/>
          <a:ext cx="11665898" cy="4145775"/>
        </p:xfrm>
        <a:graphic>
          <a:graphicData uri="http://schemas.openxmlformats.org/drawingml/2006/table">
            <a:tbl>
              <a:tblPr/>
              <a:tblGrid>
                <a:gridCol w="11665898">
                  <a:extLst>
                    <a:ext uri="{9D8B030D-6E8A-4147-A177-3AD203B41FA5}">
                      <a16:colId xmlns:a16="http://schemas.microsoft.com/office/drawing/2014/main" val="438722136"/>
                    </a:ext>
                  </a:extLst>
                </a:gridCol>
              </a:tblGrid>
              <a:tr h="41457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Background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Water scarcity is a major challenge in agriculture, leading to inefficient water use and reduced crop yields. Traditional irrigation methods often result in overuse or underuse of water.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 a smart irrigation system that utilizes sensors and IoT technology to monitor soil moisture levels and weather conditions. This system will provide real-time data to farmers, enabling them to make informed decisions on irrigation scheduling, thus optimizing water usage and enhancing crop yield. Expected Solution: A smart irrigation module integrated with moisture sensors and a mobile application to provide farmers with timely irrigation alerts and recommendations based on real-time data.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60960" marB="60960">
                    <a:lnL w="7620" cap="flat" cmpd="sng" algn="ctr">
                      <a:solidFill>
                        <a:srgbClr val="C1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1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1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83200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448CD29-11F0-A0F7-6526-582D75E84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01" y="4684378"/>
            <a:ext cx="6139585" cy="17191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965A68-3033-D07B-D13C-374E02A49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686" y="4857750"/>
            <a:ext cx="5526314" cy="1525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38100" y="28575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481625" y="1590268"/>
            <a:ext cx="2128667" cy="61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28" y="473840"/>
            <a:ext cx="10871157" cy="1116446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481626" y="2064126"/>
            <a:ext cx="7586050" cy="479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objectives of this project are: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IoT-based real-time data collection system using soil moisture, temperature, humidity, and weather APIs.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LSTM deep learning models capable of forecasting soil moisture for 7 to 90 days.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irrigation scheduling by providing predictive irrigation advice.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user-friendly mobile application that delivers real-time irrigation recommendations to farmers.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feasibility of deploying lightweight models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on IoT devices for offline prediction.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soil moisture forecasting accuracy above 85%.</a:t>
            </a:r>
          </a:p>
          <a:p>
            <a:pPr marL="228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003B2-5777-E6B5-4C23-6C2787FC3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6" y="2209800"/>
            <a:ext cx="4124324" cy="4146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659914" y="1123949"/>
            <a:ext cx="3981900" cy="85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roject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Scope</a:t>
            </a:r>
            <a:r>
              <a:rPr lang="en-IN" sz="3200" dirty="0"/>
              <a:t>:</a:t>
            </a:r>
            <a:endParaRPr sz="3200" dirty="0"/>
          </a:p>
        </p:txBody>
      </p:sp>
      <p:pic>
        <p:nvPicPr>
          <p:cNvPr id="203" name="Google Shape;20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914" y="136525"/>
            <a:ext cx="10871157" cy="1116446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F8DEB29-5F2D-915C-317B-950B2DB92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14" y="1995130"/>
            <a:ext cx="1153107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Prediction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predicting future soil moisture levels using past and current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Irrigation Planning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recommendations on when to irrigate and how much water to apply.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Multi-Data Integration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soil readings, weather conditions, and field information for better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-Temporal Analysis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how soil moisture changes across different areas and over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Physics-Based Validation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predictions follow real-world water behavior to avoid unrealistic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Training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building, training, and testing of the prediction model using historical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model with existing methods to measure accuracy and improvement.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predictions into practical irrigation decisions for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for Real Farms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work for both small farms and large agricultural fields.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Automation (Future Use)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connected to automated irrigation systems for real-time control.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4498BC-CEAD-62C0-0AA4-CF38C6F4A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1995130"/>
            <a:ext cx="4006322" cy="436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E7BA-94CB-5E31-BC33-05E0C764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ED133-F318-AA01-3E62-C8B170983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7162800" cy="4530725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moisture, temperature, humidity, solar radiation, and rainfall data will be collected through IoT sensors installed in the field.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 data (temperature, humidity, precipitation) will be fetched through open weather APIs.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soil and crop data will also be collected for model training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feature engineering, and normalization will be performed using Apache Spark Streaming.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points will be interpolated using moving averages or regression techniques.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925E1-0153-36E5-4B36-721A116D4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pic>
        <p:nvPicPr>
          <p:cNvPr id="5" name="Google Shape;120;p16">
            <a:extLst>
              <a:ext uri="{FF2B5EF4-FFF2-40B4-BE49-F238E27FC236}">
                <a16:creationId xmlns:a16="http://schemas.microsoft.com/office/drawing/2014/main" id="{29F2ADA8-766D-F85F-184A-101C348AD0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185" y="243068"/>
            <a:ext cx="10515600" cy="1582557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C7C273-B1A1-1A88-48E8-E52B5D601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387" y="2162175"/>
            <a:ext cx="3857626" cy="419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894E-C4EA-4A01-258E-00E8D4F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37325-CDE9-1779-FF6D-6A8546ADE4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pic>
        <p:nvPicPr>
          <p:cNvPr id="5" name="Google Shape;120;p16">
            <a:extLst>
              <a:ext uri="{FF2B5EF4-FFF2-40B4-BE49-F238E27FC236}">
                <a16:creationId xmlns:a16="http://schemas.microsoft.com/office/drawing/2014/main" id="{D53170AD-94B3-9397-D61A-6E182A881A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184" y="243068"/>
            <a:ext cx="10610177" cy="1582557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1EBC61-F53F-609F-5AEF-134F099E52BD}"/>
              </a:ext>
            </a:extLst>
          </p:cNvPr>
          <p:cNvSpPr txBox="1"/>
          <p:nvPr/>
        </p:nvSpPr>
        <p:spPr>
          <a:xfrm>
            <a:off x="837182" y="2095018"/>
            <a:ext cx="8792593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Development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and GRU models will be developed using TensorFlow and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libraries.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Multi-feature time-series input including temperature, humidity, and rainfall.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on sequences of previous 30-90 days to predict future soil moisture levels.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Integration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sensor readings will be transmitted via MQTT protocols.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Predictions will be generated and sent to the farmer's mobile app.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will be stored in AWS S3 or Azure Blob Storage for historical analysis.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Application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using Flutter framework.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Push notifications to farmers regarding upcoming irrigation needs.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dashboards displaying soil moisture trends and predictions.</a:t>
            </a:r>
          </a:p>
        </p:txBody>
      </p:sp>
    </p:spTree>
    <p:extLst>
      <p:ext uri="{BB962C8B-B14F-4D97-AF65-F5344CB8AC3E}">
        <p14:creationId xmlns:p14="http://schemas.microsoft.com/office/powerpoint/2010/main" val="399946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526109" y="1835950"/>
            <a:ext cx="4122741" cy="53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0" y="328073"/>
            <a:ext cx="11139778" cy="11418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11704320" y="6451877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100">
                <a:solidFill>
                  <a:srgbClr val="FFFFFF"/>
                </a:solidFill>
              </a:rPr>
              <a:t>8</a:t>
            </a:fld>
            <a:endParaRPr sz="1100">
              <a:solidFill>
                <a:srgbClr val="FFFFFF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D9ADD-B2AA-E810-6BCF-ED2D26B6C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6109" y="1587568"/>
            <a:ext cx="619854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Microcontrollers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Capacitive Soil Moisture Sensors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DHT22 Temperature and Humidity Sensors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Backend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(Deep Learning Libraries)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2"/>
              <a:tabLst/>
            </a:pPr>
            <a:r>
              <a:rPr lang="en-US" altLang="en-US" sz="1400" dirty="0" err="1">
                <a:solidFill>
                  <a:schemeClr val="tx1"/>
                </a:solidFill>
                <a:latin typeface="Arial" panose="020B0604020202020204" pitchFamily="34" charset="0"/>
              </a:rPr>
              <a:t>ConvLSTM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Internet Connectivity: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 for IoT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EC120-097C-D4C3-7D35-7A3882CF7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475" y="1605008"/>
            <a:ext cx="7015846" cy="39703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399577" y="1252971"/>
            <a:ext cx="3181823" cy="69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Flowchart: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914" y="136525"/>
            <a:ext cx="10871157" cy="1116446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4" name="Google Shape;17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01D04B-D5C6-DD9F-AC70-B2BDFEA5EFE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59915" y="2230233"/>
            <a:ext cx="10871156" cy="3470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423242" y="1684884"/>
            <a:ext cx="11139778" cy="582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Project Outcome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4000" dirty="0"/>
              <a:t>	</a:t>
            </a:r>
            <a:endParaRPr dirty="0"/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242" y="256828"/>
            <a:ext cx="11139778" cy="114182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>
            <a:spLocks noGrp="1"/>
          </p:cNvSpPr>
          <p:nvPr>
            <p:ph type="sldNum" idx="12"/>
          </p:nvPr>
        </p:nvSpPr>
        <p:spPr>
          <a:xfrm>
            <a:off x="11704320" y="6451877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100">
                <a:solidFill>
                  <a:srgbClr val="FFFFFF"/>
                </a:solidFill>
              </a:rPr>
              <a:t>10</a:t>
            </a:fld>
            <a:endParaRPr sz="1100">
              <a:solidFill>
                <a:srgbClr val="FFFFFF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37B180-DBB8-F2A9-0CD9-505794C67D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3241" y="2139515"/>
            <a:ext cx="689196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Soil Moisture Prediction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soil moisture with high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Irrigation Decision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Suggests when and how much water to apply.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Water Wastage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water only when needed to avoid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Crop Health and Yield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proper moisture for better crop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Realistic Predictions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 real-world water behavior to avoid wrong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than Existing Models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Gives lower error and higher accuracy than other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Practical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real farms of different sizes.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11D07-006A-6414-422D-629986BF9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881" y="1684884"/>
            <a:ext cx="5899140" cy="4698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>
            <a:spLocks noGrp="1"/>
          </p:cNvSpPr>
          <p:nvPr>
            <p:ph type="title"/>
          </p:nvPr>
        </p:nvSpPr>
        <p:spPr>
          <a:xfrm>
            <a:off x="558994" y="1450036"/>
            <a:ext cx="2352675" cy="145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IN" dirty="0"/>
              <a:t>	</a:t>
            </a:r>
            <a:endParaRPr dirty="0"/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994" y="257175"/>
            <a:ext cx="10871157" cy="1116446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3366E0-0E00-9209-3E8A-67F7E400F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58995" y="2468718"/>
            <a:ext cx="6260906" cy="319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smart system to predict soil moisture accurately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learning model with real-world water rules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prediction error compared to existing methods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reliable irrigation decisions (when and how much)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saving water and improving crop productivity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practical and scalable solution for modern agriculture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shows how smart prediction and real-world rules can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irrigation and support better farming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52452-1CD1-0D94-C9D3-CDCCE9A3A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1" y="1621055"/>
            <a:ext cx="4610250" cy="48150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6400" dirty="0"/>
              <a:t>Thank You !</a:t>
            </a:r>
            <a:endParaRPr sz="6400" dirty="0"/>
          </a:p>
        </p:txBody>
      </p:sp>
      <p:sp>
        <p:nvSpPr>
          <p:cNvPr id="254" name="Google Shape;25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dirty="0"/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994" y="257175"/>
            <a:ext cx="10871157" cy="1116446"/>
          </a:xfrm>
          <a:custGeom>
            <a:avLst/>
            <a:gdLst/>
            <a:ahLst/>
            <a:cxnLst/>
            <a:rect l="l" t="t" r="r" b="b"/>
            <a:pathLst>
              <a:path w="10580201" h="2957472" extrusionOk="0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6" name="Google Shape;256;p30"/>
          <p:cNvSpPr txBox="1"/>
          <p:nvPr/>
        </p:nvSpPr>
        <p:spPr>
          <a:xfrm>
            <a:off x="7583000" y="5535650"/>
            <a:ext cx="38472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- PCSE26-05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958</Words>
  <Application>Microsoft Office PowerPoint</Application>
  <PresentationFormat>Widescreen</PresentationFormat>
  <Paragraphs>110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                                DEPARTMENT OF COMPUTER SCIENCE ENGINEERING Session 2025-2026    Project Presentation Predictive Soil Hydration Intelligence</vt:lpstr>
      <vt:lpstr>PowerPoint Presentation</vt:lpstr>
      <vt:lpstr>Problem Statement: SIH-1554</vt:lpstr>
      <vt:lpstr>Objectives:</vt:lpstr>
      <vt:lpstr>Project Scope:</vt:lpstr>
      <vt:lpstr>PowerPoint Presentation</vt:lpstr>
      <vt:lpstr>PowerPoint Presentation</vt:lpstr>
      <vt:lpstr>Technology Used: </vt:lpstr>
      <vt:lpstr>Project Flowchart:</vt:lpstr>
      <vt:lpstr>Expected Project Outcome: </vt:lpstr>
      <vt:lpstr>Conclusion: 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Omendra Rajput</dc:creator>
  <cp:lastModifiedBy>Omendra Rajput</cp:lastModifiedBy>
  <cp:revision>3</cp:revision>
  <dcterms:modified xsi:type="dcterms:W3CDTF">2026-05-05T09:52:06Z</dcterms:modified>
</cp:coreProperties>
</file>