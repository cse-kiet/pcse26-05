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7" r:id="rId6"/>
    <p:sldId id="274" r:id="rId7"/>
    <p:sldId id="275" r:id="rId8"/>
    <p:sldId id="260" r:id="rId9"/>
    <p:sldId id="264" r:id="rId10"/>
    <p:sldId id="261" r:id="rId11"/>
    <p:sldId id="272" r:id="rId12"/>
    <p:sldId id="273" r:id="rId1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536" autoAdjust="0"/>
  </p:normalViewPr>
  <p:slideViewPr>
    <p:cSldViewPr snapToGrid="0">
      <p:cViewPr varScale="1">
        <p:scale>
          <a:sx n="80" d="100"/>
          <a:sy n="80" d="100"/>
        </p:scale>
        <p:origin x="75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3b3a1a7e66_0_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g33b3a1a7e66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3b3a1a7e66_0_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g33b3a1a7e66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0644aad2a8_0_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g30644aad2a8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0644aad2a8_0_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g30644aad2a8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 txBox="1">
            <a:spLocks noGrp="1"/>
          </p:cNvSpPr>
          <p:nvPr>
            <p:ph type="ctrTitle"/>
          </p:nvPr>
        </p:nvSpPr>
        <p:spPr>
          <a:xfrm>
            <a:off x="1524000" y="2533650"/>
            <a:ext cx="9144000" cy="1245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br>
              <a:rPr lang="en-IN" sz="1800" dirty="0"/>
            </a:br>
            <a:br>
              <a:rPr lang="en-IN" sz="1800" dirty="0"/>
            </a:br>
            <a:br>
              <a:rPr lang="en-IN" sz="1800" dirty="0"/>
            </a:br>
            <a:br>
              <a:rPr lang="en-IN" sz="1800" dirty="0"/>
            </a:br>
            <a:br>
              <a:rPr lang="en-IN" sz="1800" dirty="0"/>
            </a:br>
            <a:br>
              <a:rPr lang="en-IN" sz="1800" dirty="0"/>
            </a:br>
            <a:br>
              <a:rPr lang="en-IN" sz="1800" dirty="0"/>
            </a:br>
            <a:br>
              <a:rPr lang="en-IN" sz="1800" dirty="0"/>
            </a:br>
            <a:br>
              <a:rPr lang="en-IN" sz="1800" dirty="0"/>
            </a:br>
            <a:br>
              <a:rPr lang="en-IN" sz="1800" dirty="0"/>
            </a:br>
            <a:br>
              <a:rPr lang="en-IN" sz="1800" dirty="0"/>
            </a:br>
            <a:br>
              <a:rPr lang="en-IN" sz="1800" dirty="0"/>
            </a:br>
            <a:br>
              <a:rPr lang="en-IN" sz="1800" dirty="0"/>
            </a:br>
            <a:br>
              <a:rPr lang="en-IN" sz="1800" dirty="0"/>
            </a:br>
            <a:br>
              <a:rPr lang="en-IN" sz="1800" dirty="0"/>
            </a:br>
            <a:br>
              <a:rPr lang="en-IN" sz="1800" dirty="0"/>
            </a:br>
            <a:br>
              <a:rPr lang="en-IN" sz="1800" dirty="0"/>
            </a:br>
            <a:br>
              <a:rPr lang="en-IN" sz="1800" dirty="0"/>
            </a:br>
            <a:br>
              <a:rPr lang="en-IN" sz="1800" dirty="0"/>
            </a:br>
            <a:br>
              <a:rPr lang="en-IN" sz="1800" dirty="0"/>
            </a:br>
            <a:br>
              <a:rPr lang="en-IN" sz="1800" dirty="0"/>
            </a:br>
            <a:br>
              <a:rPr lang="en-IN" sz="1800" dirty="0"/>
            </a:br>
            <a:br>
              <a:rPr lang="en-IN" sz="1800" dirty="0"/>
            </a:br>
            <a:br>
              <a:rPr lang="en-IN" sz="1800" dirty="0"/>
            </a:br>
            <a:br>
              <a:rPr lang="en-IN" sz="1800" dirty="0"/>
            </a:br>
            <a:br>
              <a:rPr lang="en-IN" sz="1800" dirty="0"/>
            </a:br>
            <a:br>
              <a:rPr lang="en-IN" sz="1800" dirty="0"/>
            </a:br>
            <a:br>
              <a:rPr lang="en-IN" sz="1800" dirty="0"/>
            </a:br>
            <a:br>
              <a:rPr lang="en-IN" sz="1800" dirty="0"/>
            </a:br>
            <a:br>
              <a:rPr lang="en-IN" sz="1800" dirty="0"/>
            </a:br>
            <a:br>
              <a:rPr lang="en-IN" sz="1800" dirty="0"/>
            </a:br>
            <a:br>
              <a:rPr lang="en-IN" sz="1800" dirty="0"/>
            </a:br>
            <a:br>
              <a:rPr lang="en-IN" sz="1800" dirty="0"/>
            </a:br>
            <a:br>
              <a:rPr lang="en-IN" sz="1800" dirty="0"/>
            </a:br>
            <a:br>
              <a:rPr lang="en-IN" sz="1800" dirty="0"/>
            </a:br>
            <a:br>
              <a:rPr lang="en-IN" sz="1800" dirty="0"/>
            </a:br>
            <a:br>
              <a:rPr lang="en-IN" sz="1800" dirty="0"/>
            </a:br>
            <a:br>
              <a:rPr lang="en-IN" sz="1800" dirty="0"/>
            </a:br>
            <a:br>
              <a:rPr lang="en-IN" sz="1800" dirty="0"/>
            </a:br>
            <a:r>
              <a:rPr lang="en-IN" sz="1800" b="1" dirty="0">
                <a:latin typeface="Times New Roman" panose="02020603050405020304" pitchFamily="18" charset="0"/>
                <a:ea typeface="Bookman Old Style"/>
                <a:cs typeface="Times New Roman" panose="02020603050405020304" pitchFamily="18" charset="0"/>
                <a:sym typeface="Bookman Old Style"/>
              </a:rPr>
              <a:t>DEPARTMENT OF COMPUTER SCIENCE ENGINEERING</a:t>
            </a:r>
            <a:br>
              <a:rPr lang="en-IN" sz="1800" b="1" dirty="0">
                <a:latin typeface="Times New Roman" panose="02020603050405020304" pitchFamily="18" charset="0"/>
                <a:ea typeface="Bookman Old Style"/>
                <a:cs typeface="Times New Roman" panose="02020603050405020304" pitchFamily="18" charset="0"/>
                <a:sym typeface="Bookman Old Style"/>
              </a:rPr>
            </a:br>
            <a:r>
              <a:rPr lang="en-IN" sz="1800" dirty="0">
                <a:latin typeface="Times New Roman" panose="02020603050405020304" pitchFamily="18" charset="0"/>
                <a:ea typeface="Bookman Old Style"/>
                <a:cs typeface="Times New Roman" panose="02020603050405020304" pitchFamily="18" charset="0"/>
                <a:sym typeface="Bookman Old Style"/>
              </a:rPr>
              <a:t>Session 2025-2026</a:t>
            </a:r>
            <a:b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1800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 </a:t>
            </a:r>
            <a:b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</a:br>
            <a:r>
              <a:rPr lang="en-IN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Project Presentation</a:t>
            </a:r>
            <a:br>
              <a:rPr lang="en-I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Predictive </a:t>
            </a:r>
            <a:r>
              <a:rPr lang="en-IN" sz="3600" b="1">
                <a:latin typeface="Times New Roman" panose="02020603050405020304" pitchFamily="18" charset="0"/>
                <a:cs typeface="Times New Roman" panose="02020603050405020304" pitchFamily="18" charset="0"/>
              </a:rPr>
              <a:t>Irrigation Scheduling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9" name="Google Shape;89;p13"/>
          <p:cNvSpPr txBox="1">
            <a:spLocks noGrp="1"/>
          </p:cNvSpPr>
          <p:nvPr>
            <p:ph type="subTitle" idx="1"/>
          </p:nvPr>
        </p:nvSpPr>
        <p:spPr>
          <a:xfrm>
            <a:off x="1524000" y="4143737"/>
            <a:ext cx="9144000" cy="2309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25000" lnSpcReduction="20000"/>
          </a:bodyPr>
          <a:lstStyle/>
          <a:p>
            <a:pPr marL="0" lvl="0" indent="0" algn="l">
              <a:spcBef>
                <a:spcPts val="0"/>
              </a:spcBef>
              <a:buSzPct val="37304"/>
            </a:pPr>
            <a:r>
              <a:rPr lang="en-IN" sz="6433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Group Id</a:t>
            </a:r>
            <a:r>
              <a:rPr lang="en-IN" sz="6433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PCSE26-05</a:t>
            </a:r>
            <a:endParaRPr lang="en-IN" sz="6433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7304"/>
              <a:buNone/>
            </a:pPr>
            <a:endParaRPr lang="en-IN" sz="6433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7304"/>
              <a:buNone/>
            </a:pPr>
            <a:r>
              <a:rPr lang="en-IN" sz="6433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Guide : </a:t>
            </a:r>
            <a:r>
              <a:rPr lang="en-IN" sz="6433" dirty="0">
                <a:latin typeface="Times New Roman" panose="02020603050405020304" pitchFamily="18" charset="0"/>
                <a:cs typeface="Times New Roman" panose="02020603050405020304" pitchFamily="18" charset="0"/>
              </a:rPr>
              <a:t>Ms. Himanshi Chaudhary (Assistant Professor, CSE Dept. K.I.E.T. Group of Institutions)</a:t>
            </a: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37304"/>
              <a:buNone/>
            </a:pPr>
            <a:r>
              <a:rPr lang="en-IN" sz="6433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Members : </a:t>
            </a:r>
            <a:endParaRPr sz="6433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37304"/>
              <a:buNone/>
            </a:pPr>
            <a:r>
              <a:rPr lang="en-IN" sz="6433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Omendra Rajput</a:t>
            </a:r>
            <a:endParaRPr sz="6433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37304"/>
              <a:buNone/>
            </a:pPr>
            <a:r>
              <a:rPr lang="en-IN" sz="6433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Ashwani Baghel</a:t>
            </a: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37304"/>
              <a:buNone/>
            </a:pPr>
            <a:r>
              <a:rPr lang="en-IN" sz="6433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Vaibhav Singh</a:t>
            </a:r>
            <a:endParaRPr sz="6433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37304"/>
              <a:buNone/>
            </a:pPr>
            <a:r>
              <a:rPr lang="en-IN" sz="6433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Utkarsh Patel</a:t>
            </a:r>
            <a:endParaRPr sz="6433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/>
          </a:p>
        </p:txBody>
      </p:sp>
      <p:sp>
        <p:nvSpPr>
          <p:cNvPr id="90" name="Google Shape;90;p13"/>
          <p:cNvSpPr/>
          <p:nvPr/>
        </p:nvSpPr>
        <p:spPr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6950" tIns="22200" rIns="91425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1</a:t>
            </a:fld>
            <a:endParaRPr/>
          </a:p>
        </p:txBody>
      </p:sp>
      <p:pic>
        <p:nvPicPr>
          <p:cNvPr id="92" name="Google Shape;92;p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5862" y="404332"/>
            <a:ext cx="11112758" cy="102354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4"/>
          <p:cNvSpPr/>
          <p:nvPr/>
        </p:nvSpPr>
        <p:spPr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6950" tIns="22200" rIns="91425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2</a:t>
            </a:fld>
            <a:endParaRPr/>
          </a:p>
        </p:txBody>
      </p:sp>
      <p:pic>
        <p:nvPicPr>
          <p:cNvPr id="99" name="Google Shape;99;p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5862" y="404332"/>
            <a:ext cx="11112758" cy="1023541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4"/>
          <p:cNvSpPr txBox="1"/>
          <p:nvPr/>
        </p:nvSpPr>
        <p:spPr>
          <a:xfrm>
            <a:off x="622825" y="1816825"/>
            <a:ext cx="6097500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3200" b="1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Table of content:</a:t>
            </a:r>
            <a:endParaRPr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1" name="Google Shape;101;p14"/>
          <p:cNvSpPr txBox="1"/>
          <p:nvPr/>
        </p:nvSpPr>
        <p:spPr>
          <a:xfrm>
            <a:off x="622825" y="2476499"/>
            <a:ext cx="7014900" cy="3811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200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1.TITLE PAGE</a:t>
            </a:r>
            <a:endParaRPr sz="2200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N" sz="2200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2.PROBLEM STATEMENT </a:t>
            </a:r>
            <a:endParaRPr sz="2200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N" sz="2200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3.OBJECTIVES</a:t>
            </a:r>
            <a:endParaRPr sz="2200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N" sz="2200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4.Project Scope</a:t>
            </a:r>
            <a:endParaRPr sz="2200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N" sz="2200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5.Methodology</a:t>
            </a:r>
            <a:endParaRPr sz="2200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N" sz="2200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6.Technology Used</a:t>
            </a:r>
            <a:endParaRPr sz="2200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N" sz="2200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7.Project Outcome</a:t>
            </a:r>
            <a:endParaRPr sz="2200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N" sz="2200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8.Project Conclusion</a:t>
            </a:r>
            <a:endParaRPr sz="2200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5"/>
          <p:cNvSpPr txBox="1">
            <a:spLocks noGrp="1"/>
          </p:cNvSpPr>
          <p:nvPr>
            <p:ph type="title"/>
          </p:nvPr>
        </p:nvSpPr>
        <p:spPr>
          <a:xfrm>
            <a:off x="526101" y="1783427"/>
            <a:ext cx="11139777" cy="464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</a:pPr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Statement: SIH-1554</a:t>
            </a:r>
            <a:endParaRPr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8" name="Google Shape;108;p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26110" y="402304"/>
            <a:ext cx="11139778" cy="1141828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5"/>
          <p:cNvSpPr txBox="1">
            <a:spLocks noGrp="1"/>
          </p:cNvSpPr>
          <p:nvPr>
            <p:ph type="body" idx="1"/>
          </p:nvPr>
        </p:nvSpPr>
        <p:spPr>
          <a:xfrm>
            <a:off x="1863600" y="2352575"/>
            <a:ext cx="8464800" cy="324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sz="2000" dirty="0"/>
          </a:p>
          <a:p>
            <a:pPr marL="228600" lvl="0" indent="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 dirty="0"/>
          </a:p>
        </p:txBody>
      </p:sp>
      <p:sp>
        <p:nvSpPr>
          <p:cNvPr id="110" name="Google Shape;110;p15"/>
          <p:cNvSpPr/>
          <p:nvPr/>
        </p:nvSpPr>
        <p:spPr>
          <a:xfrm flipH="1">
            <a:off x="0" y="6406116"/>
            <a:ext cx="12191998" cy="46177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2F5496"/>
              </a:gs>
            </a:gsLst>
            <a:lin ang="150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5"/>
          <p:cNvSpPr/>
          <p:nvPr/>
        </p:nvSpPr>
        <p:spPr>
          <a:xfrm flipH="1">
            <a:off x="8115300" y="6406115"/>
            <a:ext cx="4076698" cy="464399"/>
          </a:xfrm>
          <a:prstGeom prst="rect">
            <a:avLst/>
          </a:prstGeom>
          <a:gradFill>
            <a:gsLst>
              <a:gs pos="0">
                <a:srgbClr val="000000">
                  <a:alpha val="30980"/>
                </a:srgbClr>
              </a:gs>
              <a:gs pos="19000">
                <a:srgbClr val="000000">
                  <a:alpha val="30980"/>
                </a:srgbClr>
              </a:gs>
              <a:gs pos="99000">
                <a:schemeClr val="accent1"/>
              </a:gs>
              <a:gs pos="100000">
                <a:schemeClr val="accent1"/>
              </a:gs>
            </a:gsLst>
            <a:lin ang="13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5"/>
          <p:cNvSpPr txBox="1">
            <a:spLocks noGrp="1"/>
          </p:cNvSpPr>
          <p:nvPr>
            <p:ph type="sldNum" idx="12"/>
          </p:nvPr>
        </p:nvSpPr>
        <p:spPr>
          <a:xfrm>
            <a:off x="11704320" y="6451877"/>
            <a:ext cx="4480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z="1100">
                <a:solidFill>
                  <a:srgbClr val="FFFFFF"/>
                </a:solidFill>
              </a:rPr>
              <a:t>3</a:t>
            </a:fld>
            <a:endParaRPr sz="1100">
              <a:solidFill>
                <a:srgbClr val="FFFFFF"/>
              </a:solidFill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7577175-3FCD-07A0-FC27-7762F43CAC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456159"/>
              </p:ext>
            </p:extLst>
          </p:nvPr>
        </p:nvGraphicFramePr>
        <p:xfrm>
          <a:off x="526101" y="2247826"/>
          <a:ext cx="11665898" cy="4145775"/>
        </p:xfrm>
        <a:graphic>
          <a:graphicData uri="http://schemas.openxmlformats.org/drawingml/2006/table">
            <a:tbl>
              <a:tblPr/>
              <a:tblGrid>
                <a:gridCol w="11665898">
                  <a:extLst>
                    <a:ext uri="{9D8B030D-6E8A-4147-A177-3AD203B41FA5}">
                      <a16:colId xmlns:a16="http://schemas.microsoft.com/office/drawing/2014/main" val="438722136"/>
                    </a:ext>
                  </a:extLst>
                </a:gridCol>
              </a:tblGrid>
              <a:tr h="4145775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2200" b="1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Background</a:t>
                      </a:r>
                      <a:r>
                        <a:rPr lang="en-US" sz="22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: </a:t>
                      </a:r>
                      <a:r>
                        <a:rPr lang="en-US" sz="20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Water scarcity is a major challenge in agriculture, leading to inefficient water use and reduced crop yields. Traditional irrigation methods often result in overuse or underuse of water. </a:t>
                      </a:r>
                    </a:p>
                    <a:p>
                      <a:pPr algn="l" fontAlgn="t">
                        <a:buNone/>
                      </a:pPr>
                      <a:r>
                        <a:rPr lang="en-US" sz="2200" b="1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Description</a:t>
                      </a:r>
                      <a:r>
                        <a:rPr lang="en-US" sz="22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: </a:t>
                      </a:r>
                      <a:r>
                        <a:rPr lang="en-US" sz="20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Develop a smart irrigation system that utilizes sensors and IoT technology to monitor soil moisture levels and weather conditions. This system will provide real-time data to farmers, enabling them to make informed decisions on irrigation scheduling, thus optimizing water usage and enhancing crop yield. Expected Solution: A smart irrigation module integrated with moisture sensors and a mobile application to provide farmers with timely irrigation alerts and recommendations based on real-time data.</a:t>
                      </a:r>
                    </a:p>
                    <a:p>
                      <a:pPr algn="l" fontAlgn="t">
                        <a:buNone/>
                      </a:pPr>
                      <a:endParaRPr lang="en-US" sz="20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0" marR="76200" marT="60960" marB="60960">
                    <a:lnL w="7620" cap="flat" cmpd="sng" algn="ctr">
                      <a:solidFill>
                        <a:srgbClr val="C1C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1C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1C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4832007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1448CD29-11F0-A0F7-6526-582D75E84B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101" y="4684378"/>
            <a:ext cx="6139585" cy="171911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E965A68-3033-D07B-D13C-374E02A493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5686" y="4857750"/>
            <a:ext cx="5526314" cy="152548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6"/>
          <p:cNvSpPr/>
          <p:nvPr/>
        </p:nvSpPr>
        <p:spPr>
          <a:xfrm>
            <a:off x="38100" y="28575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6"/>
          <p:cNvSpPr txBox="1">
            <a:spLocks noGrp="1"/>
          </p:cNvSpPr>
          <p:nvPr>
            <p:ph type="title"/>
          </p:nvPr>
        </p:nvSpPr>
        <p:spPr>
          <a:xfrm>
            <a:off x="481625" y="1590268"/>
            <a:ext cx="2128667" cy="61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0" name="Google Shape;120;p1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81628" y="473840"/>
            <a:ext cx="10871157" cy="1116446"/>
          </a:xfrm>
          <a:custGeom>
            <a:avLst/>
            <a:gdLst/>
            <a:ahLst/>
            <a:cxnLst/>
            <a:rect l="l" t="t" r="r" b="b"/>
            <a:pathLst>
              <a:path w="10580201" h="2957472" extrusionOk="0">
                <a:moveTo>
                  <a:pt x="88961" y="0"/>
                </a:moveTo>
                <a:lnTo>
                  <a:pt x="10491240" y="0"/>
                </a:lnTo>
                <a:cubicBezTo>
                  <a:pt x="10540372" y="0"/>
                  <a:pt x="10580201" y="39829"/>
                  <a:pt x="10580201" y="88961"/>
                </a:cubicBezTo>
                <a:lnTo>
                  <a:pt x="10580201" y="2868511"/>
                </a:lnTo>
                <a:cubicBezTo>
                  <a:pt x="10580201" y="2917643"/>
                  <a:pt x="10540372" y="2957472"/>
                  <a:pt x="10491240" y="2957472"/>
                </a:cubicBezTo>
                <a:lnTo>
                  <a:pt x="88961" y="2957472"/>
                </a:lnTo>
                <a:cubicBezTo>
                  <a:pt x="39829" y="2957472"/>
                  <a:pt x="0" y="2917643"/>
                  <a:pt x="0" y="2868511"/>
                </a:cubicBezTo>
                <a:lnTo>
                  <a:pt x="0" y="88961"/>
                </a:lnTo>
                <a:cubicBezTo>
                  <a:pt x="0" y="39829"/>
                  <a:pt x="39829" y="0"/>
                  <a:pt x="88961" y="0"/>
                </a:cubicBezTo>
                <a:close/>
              </a:path>
            </a:pathLst>
          </a:custGeom>
          <a:noFill/>
          <a:ln>
            <a:noFill/>
          </a:ln>
        </p:spPr>
      </p:pic>
      <p:sp>
        <p:nvSpPr>
          <p:cNvPr id="121" name="Google Shape;121;p16"/>
          <p:cNvSpPr txBox="1">
            <a:spLocks noGrp="1"/>
          </p:cNvSpPr>
          <p:nvPr>
            <p:ph type="body" idx="1"/>
          </p:nvPr>
        </p:nvSpPr>
        <p:spPr>
          <a:xfrm>
            <a:off x="481626" y="2064126"/>
            <a:ext cx="7586050" cy="47938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algn="just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primary objectives of this project are: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design an IoT-based real-time data collection system using soil moisture, temperature, humidity, and weather APIs.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develop LSTM deep learning models capable of forecasting soil moisture for 7 to 90 days.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optimize irrigation scheduling by providing predictive irrigation advice.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implement a user-friendly mobile application that delivers real-time irrigation recommendations to farmers.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evaluate the feasibility of deploying lightweight models (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TinyML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on IoT devices for offline prediction.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achieve a soil moisture forecasting accuracy above 85%.</a:t>
            </a:r>
          </a:p>
          <a:p>
            <a:pPr marL="22860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800" dirty="0"/>
          </a:p>
        </p:txBody>
      </p:sp>
      <p:sp>
        <p:nvSpPr>
          <p:cNvPr id="122" name="Google Shape;122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4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53003B2-5777-E6B5-4C23-6C2787FC30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7676" y="2209800"/>
            <a:ext cx="4124324" cy="41465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24"/>
          <p:cNvSpPr txBox="1">
            <a:spLocks noGrp="1"/>
          </p:cNvSpPr>
          <p:nvPr>
            <p:ph type="title"/>
          </p:nvPr>
        </p:nvSpPr>
        <p:spPr>
          <a:xfrm>
            <a:off x="659914" y="1123949"/>
            <a:ext cx="3981900" cy="8572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IN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roject</a:t>
            </a:r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Scope</a:t>
            </a:r>
            <a:r>
              <a:rPr lang="en-IN" sz="3200" dirty="0"/>
              <a:t>:</a:t>
            </a:r>
            <a:endParaRPr sz="3200" dirty="0"/>
          </a:p>
        </p:txBody>
      </p:sp>
      <p:pic>
        <p:nvPicPr>
          <p:cNvPr id="203" name="Google Shape;203;p2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9914" y="136525"/>
            <a:ext cx="10871157" cy="1116446"/>
          </a:xfrm>
          <a:custGeom>
            <a:avLst/>
            <a:gdLst/>
            <a:ahLst/>
            <a:cxnLst/>
            <a:rect l="l" t="t" r="r" b="b"/>
            <a:pathLst>
              <a:path w="10580201" h="2957472" extrusionOk="0">
                <a:moveTo>
                  <a:pt x="88961" y="0"/>
                </a:moveTo>
                <a:lnTo>
                  <a:pt x="10491240" y="0"/>
                </a:lnTo>
                <a:cubicBezTo>
                  <a:pt x="10540372" y="0"/>
                  <a:pt x="10580201" y="39829"/>
                  <a:pt x="10580201" y="88961"/>
                </a:cubicBezTo>
                <a:lnTo>
                  <a:pt x="10580201" y="2868511"/>
                </a:lnTo>
                <a:cubicBezTo>
                  <a:pt x="10580201" y="2917643"/>
                  <a:pt x="10540372" y="2957472"/>
                  <a:pt x="10491240" y="2957472"/>
                </a:cubicBezTo>
                <a:lnTo>
                  <a:pt x="88961" y="2957472"/>
                </a:lnTo>
                <a:cubicBezTo>
                  <a:pt x="39829" y="2957472"/>
                  <a:pt x="0" y="2917643"/>
                  <a:pt x="0" y="2868511"/>
                </a:cubicBezTo>
                <a:lnTo>
                  <a:pt x="0" y="88961"/>
                </a:lnTo>
                <a:cubicBezTo>
                  <a:pt x="0" y="39829"/>
                  <a:pt x="39829" y="0"/>
                  <a:pt x="88961" y="0"/>
                </a:cubicBezTo>
                <a:close/>
              </a:path>
            </a:pathLst>
          </a:custGeom>
          <a:noFill/>
          <a:ln>
            <a:noFill/>
          </a:ln>
        </p:spPr>
      </p:pic>
      <p:sp>
        <p:nvSpPr>
          <p:cNvPr id="204" name="Google Shape;204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5</a:t>
            </a:fld>
            <a:endParaRPr/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FF8DEB29-5F2D-915C-317B-950B2DB929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9914" y="1995130"/>
            <a:ext cx="11531071" cy="47089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Soil Moisture Prediction</a:t>
            </a:r>
            <a:b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 system focuses on predicting future soil moisture levels using past and current data.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Smart Irrigation Planning</a:t>
            </a:r>
            <a:b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Provides recommendations on when to irrigate and how much water to apply.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Multi-Data Integration</a:t>
            </a:r>
            <a:b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Combines soil readings, weather conditions, and field information for better accuracy.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5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Spatio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-Temporal Analysis</a:t>
            </a:r>
            <a:b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Studies how soil moisture changes across different areas and over time.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Physics-Based Validation</a:t>
            </a:r>
            <a:b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Ensures predictions follow real-world water behavior to avoid unrealistic results.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Model Development and Training</a:t>
            </a:r>
            <a:b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Includes building, training, and testing of the prediction model using historical data.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Performance Evaluation</a:t>
            </a:r>
            <a:b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Compares the model with existing methods to measure accuracy and improvement.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Decision Support System</a:t>
            </a:r>
            <a:b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Converts predictions into practical irrigation decisions for users.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Scalability for Real Farms</a:t>
            </a:r>
            <a:b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Designed to work for both small farms and large agricultural fields.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Integration with Automation (Future Use)</a:t>
            </a:r>
            <a:b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Can be connected to automated irrigation systems for real-time control.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34498BC-CEAD-62C0-0AA4-CF38C6F4AA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4750" y="1995130"/>
            <a:ext cx="4006322" cy="43612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FBE7BA-94CB-5E31-BC33-05E0C76425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CED133-F318-AA01-3E62-C8B1709835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4"/>
            <a:ext cx="7162800" cy="4530725"/>
          </a:xfrm>
        </p:spPr>
        <p:txBody>
          <a:bodyPr>
            <a:normAutofit fontScale="85000" lnSpcReduction="20000"/>
          </a:bodyPr>
          <a:lstStyle/>
          <a:p>
            <a:pPr algn="just">
              <a:buNone/>
            </a:pPr>
            <a:r>
              <a:rPr lang="en-US" sz="3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Methodology:</a:t>
            </a:r>
          </a:p>
          <a:p>
            <a:pPr algn="just">
              <a:buNone/>
            </a:pPr>
            <a:r>
              <a:rPr lang="en-US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Collection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Soil moisture, temperature, humidity, solar radiation, and rainfall data will be collected through IoT sensors installed in the field.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Weather forecast data (temperature, humidity, precipitation) will be fetched through open weather APIs.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Historical soil and crop data will also be collected for model training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algn="just">
              <a:buNone/>
            </a:pPr>
            <a:r>
              <a:rPr lang="en-US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Preprocessing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cleaning, feature engineering, and normalization will be performed using Apache Spark Streaming.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Missing data points will be interpolated using moving averages or regression techniques.</a:t>
            </a:r>
          </a:p>
          <a:p>
            <a:pPr marL="114300" indent="0">
              <a:buNone/>
            </a:pP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A925E1-0153-36E5-4B36-721A116D418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mtClean="0"/>
              <a:t>6</a:t>
            </a:fld>
            <a:endParaRPr lang="en-IN"/>
          </a:p>
        </p:txBody>
      </p:sp>
      <p:pic>
        <p:nvPicPr>
          <p:cNvPr id="5" name="Google Shape;120;p16">
            <a:extLst>
              <a:ext uri="{FF2B5EF4-FFF2-40B4-BE49-F238E27FC236}">
                <a16:creationId xmlns:a16="http://schemas.microsoft.com/office/drawing/2014/main" id="{29F2ADA8-766D-F85F-184A-101C348AD024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37185" y="243068"/>
            <a:ext cx="10515600" cy="1582557"/>
          </a:xfrm>
          <a:custGeom>
            <a:avLst/>
            <a:gdLst/>
            <a:ahLst/>
            <a:cxnLst/>
            <a:rect l="l" t="t" r="r" b="b"/>
            <a:pathLst>
              <a:path w="10580201" h="2957472" extrusionOk="0">
                <a:moveTo>
                  <a:pt x="88961" y="0"/>
                </a:moveTo>
                <a:lnTo>
                  <a:pt x="10491240" y="0"/>
                </a:lnTo>
                <a:cubicBezTo>
                  <a:pt x="10540372" y="0"/>
                  <a:pt x="10580201" y="39829"/>
                  <a:pt x="10580201" y="88961"/>
                </a:cubicBezTo>
                <a:lnTo>
                  <a:pt x="10580201" y="2868511"/>
                </a:lnTo>
                <a:cubicBezTo>
                  <a:pt x="10580201" y="2917643"/>
                  <a:pt x="10540372" y="2957472"/>
                  <a:pt x="10491240" y="2957472"/>
                </a:cubicBezTo>
                <a:lnTo>
                  <a:pt x="88961" y="2957472"/>
                </a:lnTo>
                <a:cubicBezTo>
                  <a:pt x="39829" y="2957472"/>
                  <a:pt x="0" y="2917643"/>
                  <a:pt x="0" y="2868511"/>
                </a:cubicBezTo>
                <a:lnTo>
                  <a:pt x="0" y="88961"/>
                </a:lnTo>
                <a:cubicBezTo>
                  <a:pt x="0" y="39829"/>
                  <a:pt x="39829" y="0"/>
                  <a:pt x="88961" y="0"/>
                </a:cubicBezTo>
                <a:close/>
              </a:path>
            </a:pathLst>
          </a:custGeom>
          <a:noFill/>
          <a:ln>
            <a:noFill/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5C7C273-B1A1-1A88-48E8-E52B5D6019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3387" y="2162175"/>
            <a:ext cx="3857626" cy="4194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90949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61894E-C4EA-4A01-258E-00E8D4FF0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E37325-CDE9-1779-FF6D-6A8546ADE49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mtClean="0"/>
              <a:t>7</a:t>
            </a:fld>
            <a:endParaRPr lang="en-IN"/>
          </a:p>
        </p:txBody>
      </p:sp>
      <p:pic>
        <p:nvPicPr>
          <p:cNvPr id="5" name="Google Shape;120;p16">
            <a:extLst>
              <a:ext uri="{FF2B5EF4-FFF2-40B4-BE49-F238E27FC236}">
                <a16:creationId xmlns:a16="http://schemas.microsoft.com/office/drawing/2014/main" id="{D53170AD-94B3-9397-D61A-6E182A881A7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37184" y="243068"/>
            <a:ext cx="10610177" cy="1582557"/>
          </a:xfrm>
          <a:custGeom>
            <a:avLst/>
            <a:gdLst/>
            <a:ahLst/>
            <a:cxnLst/>
            <a:rect l="l" t="t" r="r" b="b"/>
            <a:pathLst>
              <a:path w="10580201" h="2957472" extrusionOk="0">
                <a:moveTo>
                  <a:pt x="88961" y="0"/>
                </a:moveTo>
                <a:lnTo>
                  <a:pt x="10491240" y="0"/>
                </a:lnTo>
                <a:cubicBezTo>
                  <a:pt x="10540372" y="0"/>
                  <a:pt x="10580201" y="39829"/>
                  <a:pt x="10580201" y="88961"/>
                </a:cubicBezTo>
                <a:lnTo>
                  <a:pt x="10580201" y="2868511"/>
                </a:lnTo>
                <a:cubicBezTo>
                  <a:pt x="10580201" y="2917643"/>
                  <a:pt x="10540372" y="2957472"/>
                  <a:pt x="10491240" y="2957472"/>
                </a:cubicBezTo>
                <a:lnTo>
                  <a:pt x="88961" y="2957472"/>
                </a:lnTo>
                <a:cubicBezTo>
                  <a:pt x="39829" y="2957472"/>
                  <a:pt x="0" y="2917643"/>
                  <a:pt x="0" y="2868511"/>
                </a:cubicBezTo>
                <a:lnTo>
                  <a:pt x="0" y="88961"/>
                </a:lnTo>
                <a:cubicBezTo>
                  <a:pt x="0" y="39829"/>
                  <a:pt x="39829" y="0"/>
                  <a:pt x="88961" y="0"/>
                </a:cubicBezTo>
                <a:close/>
              </a:path>
            </a:pathLst>
          </a:custGeom>
          <a:noFill/>
          <a:ln>
            <a:noFill/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B1EBC61-F53F-609F-5AEF-134F099E52BD}"/>
              </a:ext>
            </a:extLst>
          </p:cNvPr>
          <p:cNvSpPr txBox="1"/>
          <p:nvPr/>
        </p:nvSpPr>
        <p:spPr>
          <a:xfrm>
            <a:off x="837182" y="2095018"/>
            <a:ext cx="8792593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200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Model Development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LSTM and GRU models will be developed using TensorFlow and </a:t>
            </a:r>
            <a:r>
              <a:rPr lang="en-US" sz="2000" dirty="0" err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Keras</a:t>
            </a:r>
            <a:r>
              <a:rPr lang="en-US" sz="20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libraries.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Multi-feature time-series input including temperature, humidity, and rainfall.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Training on sequences of previous 30-90 days to predict future soil moisture levels.</a:t>
            </a:r>
          </a:p>
          <a:p>
            <a:pPr algn="just">
              <a:buFont typeface="Arial" panose="020B0604020202020204" pitchFamily="34" charset="0"/>
              <a:buChar char="•"/>
            </a:pPr>
            <a:endParaRPr lang="en-US" sz="2000" dirty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just"/>
            <a:r>
              <a:rPr lang="en-US" sz="2000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200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System Integration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Real-time sensor readings will be transmitted via MQTT protocols.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Predictions will be generated and sent to the farmer's mobile app.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Data will be stored in AWS S3 or Azure Blob Storage for historical analysis.</a:t>
            </a:r>
          </a:p>
          <a:p>
            <a:pPr algn="just"/>
            <a:endParaRPr lang="en-US" sz="2000" dirty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just"/>
            <a:r>
              <a:rPr lang="en-US" sz="2200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Mobile Application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Developed using Flutter framework.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Push notifications to farmers regarding upcoming irrigation needs.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Visual dashboards displaying soil moisture trends and predictions.</a:t>
            </a:r>
          </a:p>
        </p:txBody>
      </p:sp>
    </p:spTree>
    <p:extLst>
      <p:ext uri="{BB962C8B-B14F-4D97-AF65-F5344CB8AC3E}">
        <p14:creationId xmlns:p14="http://schemas.microsoft.com/office/powerpoint/2010/main" val="39994675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7"/>
          <p:cNvSpPr txBox="1">
            <a:spLocks noGrp="1"/>
          </p:cNvSpPr>
          <p:nvPr>
            <p:ph type="title"/>
          </p:nvPr>
        </p:nvSpPr>
        <p:spPr>
          <a:xfrm>
            <a:off x="526109" y="1835950"/>
            <a:ext cx="4122741" cy="53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</a:pPr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Technology Used:</a:t>
            </a:r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endParaRPr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9" name="Google Shape;129;p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26110" y="328073"/>
            <a:ext cx="11139778" cy="1141828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17"/>
          <p:cNvSpPr txBox="1">
            <a:spLocks noGrp="1"/>
          </p:cNvSpPr>
          <p:nvPr>
            <p:ph type="sldNum" idx="12"/>
          </p:nvPr>
        </p:nvSpPr>
        <p:spPr>
          <a:xfrm>
            <a:off x="11704320" y="6451877"/>
            <a:ext cx="4480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z="1100">
                <a:solidFill>
                  <a:srgbClr val="FFFFFF"/>
                </a:solidFill>
              </a:rPr>
              <a:t>8</a:t>
            </a:fld>
            <a:endParaRPr sz="1100">
              <a:solidFill>
                <a:srgbClr val="FFFFFF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89D9ADD-B2AA-E810-6BCF-ED2D26B6CB1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26109" y="1587568"/>
            <a:ext cx="6198541" cy="39703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Hardware: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342900"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ESP32 Microcontrollers</a:t>
            </a:r>
          </a:p>
          <a:p>
            <a:pPr marL="342900"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Capacitive Soil Moisture Sensors</a:t>
            </a:r>
          </a:p>
          <a:p>
            <a:pPr marL="342900"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DHT22 Temperature and Humidity Sensors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  </a:t>
            </a:r>
            <a:r>
              <a:rPr lang="en-US" altLang="en-US" sz="1800" b="1" dirty="0">
                <a:solidFill>
                  <a:schemeClr val="tx1"/>
                </a:solidFill>
                <a:latin typeface="Arial" panose="020B0604020202020204" pitchFamily="34" charset="0"/>
              </a:rPr>
              <a:t>Backend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342900"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TensorFlow,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Keras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(Deep Learning Libraries)</a:t>
            </a:r>
          </a:p>
          <a:p>
            <a:pPr marL="342900"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AutoNum type="arabicPeriod" startAt="2"/>
              <a:tabLst/>
            </a:pPr>
            <a:r>
              <a:rPr lang="en-US" altLang="en-US" sz="1400" dirty="0" err="1">
                <a:solidFill>
                  <a:schemeClr val="tx1"/>
                </a:solidFill>
                <a:latin typeface="Arial" panose="020B0604020202020204" pitchFamily="34" charset="0"/>
              </a:rPr>
              <a:t>ConvLSTM</a:t>
            </a:r>
            <a:endParaRPr lang="en-US" altLang="en-US" sz="14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342900"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AutoNum type="arabicPeriod" startAt="2"/>
              <a:tabLst/>
            </a:pP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BiLSTM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  Internet Connectivity: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342900"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WiFi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network for IoT data transmission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5AEC120-097C-D4C3-7D35-7A3882CF75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8475" y="1605008"/>
            <a:ext cx="7015846" cy="397031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1"/>
          <p:cNvSpPr txBox="1">
            <a:spLocks noGrp="1"/>
          </p:cNvSpPr>
          <p:nvPr>
            <p:ph type="title"/>
          </p:nvPr>
        </p:nvSpPr>
        <p:spPr>
          <a:xfrm>
            <a:off x="399577" y="1252971"/>
            <a:ext cx="3181823" cy="690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Flowchart:</a:t>
            </a:r>
            <a:endParaRPr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73" name="Google Shape;173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9914" y="136525"/>
            <a:ext cx="10871157" cy="1116446"/>
          </a:xfrm>
          <a:custGeom>
            <a:avLst/>
            <a:gdLst/>
            <a:ahLst/>
            <a:cxnLst/>
            <a:rect l="l" t="t" r="r" b="b"/>
            <a:pathLst>
              <a:path w="10580201" h="2957472" extrusionOk="0">
                <a:moveTo>
                  <a:pt x="88961" y="0"/>
                </a:moveTo>
                <a:lnTo>
                  <a:pt x="10491240" y="0"/>
                </a:lnTo>
                <a:cubicBezTo>
                  <a:pt x="10540372" y="0"/>
                  <a:pt x="10580201" y="39829"/>
                  <a:pt x="10580201" y="88961"/>
                </a:cubicBezTo>
                <a:lnTo>
                  <a:pt x="10580201" y="2868511"/>
                </a:lnTo>
                <a:cubicBezTo>
                  <a:pt x="10580201" y="2917643"/>
                  <a:pt x="10540372" y="2957472"/>
                  <a:pt x="10491240" y="2957472"/>
                </a:cubicBezTo>
                <a:lnTo>
                  <a:pt x="88961" y="2957472"/>
                </a:lnTo>
                <a:cubicBezTo>
                  <a:pt x="39829" y="2957472"/>
                  <a:pt x="0" y="2917643"/>
                  <a:pt x="0" y="2868511"/>
                </a:cubicBezTo>
                <a:lnTo>
                  <a:pt x="0" y="88961"/>
                </a:lnTo>
                <a:cubicBezTo>
                  <a:pt x="0" y="39829"/>
                  <a:pt x="39829" y="0"/>
                  <a:pt x="88961" y="0"/>
                </a:cubicBezTo>
                <a:close/>
              </a:path>
            </a:pathLst>
          </a:custGeom>
          <a:noFill/>
          <a:ln>
            <a:noFill/>
          </a:ln>
        </p:spPr>
      </p:pic>
      <p:sp>
        <p:nvSpPr>
          <p:cNvPr id="174" name="Google Shape;174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9</a:t>
            </a:fld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A01D04B-D5C6-DD9F-AC70-B2BDFEA5EFE0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659915" y="2230233"/>
            <a:ext cx="10871156" cy="347091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8"/>
          <p:cNvSpPr txBox="1">
            <a:spLocks noGrp="1"/>
          </p:cNvSpPr>
          <p:nvPr>
            <p:ph type="title"/>
          </p:nvPr>
        </p:nvSpPr>
        <p:spPr>
          <a:xfrm>
            <a:off x="423242" y="1684884"/>
            <a:ext cx="11139778" cy="582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marL="0" lvl="0" indent="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</a:pPr>
            <a:r>
              <a:rPr lang="en-IN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Expected Project Outcome</a:t>
            </a:r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IN" sz="4000" dirty="0"/>
              <a:t>	</a:t>
            </a:r>
            <a:endParaRPr dirty="0"/>
          </a:p>
        </p:txBody>
      </p:sp>
      <p:pic>
        <p:nvPicPr>
          <p:cNvPr id="140" name="Google Shape;140;p1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23242" y="256828"/>
            <a:ext cx="11139778" cy="1141828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18"/>
          <p:cNvSpPr txBox="1">
            <a:spLocks noGrp="1"/>
          </p:cNvSpPr>
          <p:nvPr>
            <p:ph type="sldNum" idx="12"/>
          </p:nvPr>
        </p:nvSpPr>
        <p:spPr>
          <a:xfrm>
            <a:off x="11704320" y="6451877"/>
            <a:ext cx="4480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z="1100">
                <a:solidFill>
                  <a:srgbClr val="FFFFFF"/>
                </a:solidFill>
              </a:rPr>
              <a:t>10</a:t>
            </a:fld>
            <a:endParaRPr sz="1100">
              <a:solidFill>
                <a:srgbClr val="FFFFFF"/>
              </a:solidFill>
            </a:endParaRP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437B180-DBB8-F2A9-0CD9-505794C67D5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23241" y="2139515"/>
            <a:ext cx="6891960" cy="45243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Accurate Soil Moisture Prediction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Predicts future soil moisture with high accuracy.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Smart Irrigation Decision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Suggests when and how much water to apply.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Reduction in Water Wastage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Uses water only when needed to avoid waste.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Improved Crop Health and Yield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Maintains proper moisture for better crop growth.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Reliable and Realistic Predictions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Follows real-world water behavior to avoid wrong results.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Better Performance than Existing Models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Gives lower error and higher accuracy than other models.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Scalable and Practical System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Can be used in real farms of different sizes.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C011D07-006A-6414-422D-629986BF91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3881" y="1684884"/>
            <a:ext cx="5899140" cy="469835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9"/>
          <p:cNvSpPr txBox="1">
            <a:spLocks noGrp="1"/>
          </p:cNvSpPr>
          <p:nvPr>
            <p:ph type="title"/>
          </p:nvPr>
        </p:nvSpPr>
        <p:spPr>
          <a:xfrm>
            <a:off x="558994" y="1450036"/>
            <a:ext cx="2352675" cy="1455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Conclusion:</a:t>
            </a:r>
            <a:r>
              <a:rPr lang="en-IN" dirty="0"/>
              <a:t>	</a:t>
            </a:r>
            <a:endParaRPr dirty="0"/>
          </a:p>
        </p:txBody>
      </p:sp>
      <p:pic>
        <p:nvPicPr>
          <p:cNvPr id="248" name="Google Shape;248;p2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8994" y="257175"/>
            <a:ext cx="10871157" cy="1116446"/>
          </a:xfrm>
          <a:custGeom>
            <a:avLst/>
            <a:gdLst/>
            <a:ahLst/>
            <a:cxnLst/>
            <a:rect l="l" t="t" r="r" b="b"/>
            <a:pathLst>
              <a:path w="10580201" h="2957472" extrusionOk="0">
                <a:moveTo>
                  <a:pt x="88961" y="0"/>
                </a:moveTo>
                <a:lnTo>
                  <a:pt x="10491240" y="0"/>
                </a:lnTo>
                <a:cubicBezTo>
                  <a:pt x="10540372" y="0"/>
                  <a:pt x="10580201" y="39829"/>
                  <a:pt x="10580201" y="88961"/>
                </a:cubicBezTo>
                <a:lnTo>
                  <a:pt x="10580201" y="2868511"/>
                </a:lnTo>
                <a:cubicBezTo>
                  <a:pt x="10580201" y="2917643"/>
                  <a:pt x="10540372" y="2957472"/>
                  <a:pt x="10491240" y="2957472"/>
                </a:cubicBezTo>
                <a:lnTo>
                  <a:pt x="88961" y="2957472"/>
                </a:lnTo>
                <a:cubicBezTo>
                  <a:pt x="39829" y="2957472"/>
                  <a:pt x="0" y="2917643"/>
                  <a:pt x="0" y="2868511"/>
                </a:cubicBezTo>
                <a:lnTo>
                  <a:pt x="0" y="88961"/>
                </a:lnTo>
                <a:cubicBezTo>
                  <a:pt x="0" y="39829"/>
                  <a:pt x="39829" y="0"/>
                  <a:pt x="88961" y="0"/>
                </a:cubicBezTo>
                <a:close/>
              </a:path>
            </a:pathLst>
          </a:custGeom>
          <a:noFill/>
          <a:ln>
            <a:noFill/>
          </a:ln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E3366E0-0E00-9209-3E8A-67F7E400FF0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58995" y="2468718"/>
            <a:ext cx="6260906" cy="31988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Developed a smart system to predict soil moisture accurately </a:t>
            </a:r>
          </a:p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Combined learning model with real-world water rules </a:t>
            </a:r>
          </a:p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Reduced prediction error compared to existing methods </a:t>
            </a:r>
          </a:p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Generated reliable irrigation decisions (when and how much) </a:t>
            </a:r>
          </a:p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Helps in saving water and improving crop productivity </a:t>
            </a:r>
          </a:p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a practical and scalable solution for modern agriculture </a:t>
            </a:r>
          </a:p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project shows how smart prediction and real-world rules can</a:t>
            </a:r>
          </a:p>
          <a:p>
            <a:pPr marL="114300" indent="0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imporve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irrigation and support better farming decisions.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7052452-1CD1-0D94-C9D3-CDCCE9A3A3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9901" y="1621055"/>
            <a:ext cx="4610250" cy="481505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0"/>
          <p:cNvSpPr txBox="1">
            <a:spLocks noGrp="1"/>
          </p:cNvSpPr>
          <p:nvPr>
            <p:ph type="title"/>
          </p:nvPr>
        </p:nvSpPr>
        <p:spPr>
          <a:xfrm>
            <a:off x="838200" y="0"/>
            <a:ext cx="10515600" cy="685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IN" sz="6400" dirty="0"/>
              <a:t>Thank You !</a:t>
            </a:r>
            <a:endParaRPr sz="6400" dirty="0"/>
          </a:p>
        </p:txBody>
      </p:sp>
      <p:sp>
        <p:nvSpPr>
          <p:cNvPr id="254" name="Google Shape;254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mtClean="0"/>
              <a:t>12</a:t>
            </a:fld>
            <a:endParaRPr dirty="0"/>
          </a:p>
        </p:txBody>
      </p:sp>
      <p:pic>
        <p:nvPicPr>
          <p:cNvPr id="255" name="Google Shape;255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8994" y="257175"/>
            <a:ext cx="10871157" cy="1116446"/>
          </a:xfrm>
          <a:custGeom>
            <a:avLst/>
            <a:gdLst/>
            <a:ahLst/>
            <a:cxnLst/>
            <a:rect l="l" t="t" r="r" b="b"/>
            <a:pathLst>
              <a:path w="10580201" h="2957472" extrusionOk="0">
                <a:moveTo>
                  <a:pt x="88961" y="0"/>
                </a:moveTo>
                <a:lnTo>
                  <a:pt x="10491240" y="0"/>
                </a:lnTo>
                <a:cubicBezTo>
                  <a:pt x="10540372" y="0"/>
                  <a:pt x="10580201" y="39829"/>
                  <a:pt x="10580201" y="88961"/>
                </a:cubicBezTo>
                <a:lnTo>
                  <a:pt x="10580201" y="2868511"/>
                </a:lnTo>
                <a:cubicBezTo>
                  <a:pt x="10580201" y="2917643"/>
                  <a:pt x="10540372" y="2957472"/>
                  <a:pt x="10491240" y="2957472"/>
                </a:cubicBezTo>
                <a:lnTo>
                  <a:pt x="88961" y="2957472"/>
                </a:lnTo>
                <a:cubicBezTo>
                  <a:pt x="39829" y="2957472"/>
                  <a:pt x="0" y="2917643"/>
                  <a:pt x="0" y="2868511"/>
                </a:cubicBezTo>
                <a:lnTo>
                  <a:pt x="0" y="88961"/>
                </a:lnTo>
                <a:cubicBezTo>
                  <a:pt x="0" y="39829"/>
                  <a:pt x="39829" y="0"/>
                  <a:pt x="88961" y="0"/>
                </a:cubicBezTo>
                <a:close/>
              </a:path>
            </a:pathLst>
          </a:custGeom>
          <a:noFill/>
          <a:ln>
            <a:noFill/>
          </a:ln>
        </p:spPr>
      </p:pic>
      <p:sp>
        <p:nvSpPr>
          <p:cNvPr id="256" name="Google Shape;256;p30"/>
          <p:cNvSpPr txBox="1"/>
          <p:nvPr/>
        </p:nvSpPr>
        <p:spPr>
          <a:xfrm>
            <a:off x="7583000" y="5535650"/>
            <a:ext cx="3847200" cy="71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- PCSE26-05</a:t>
            </a:r>
            <a:endParaRPr sz="2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189</TotalTime>
  <Words>957</Words>
  <Application>Microsoft Office PowerPoint</Application>
  <PresentationFormat>Widescreen</PresentationFormat>
  <Paragraphs>110</Paragraphs>
  <Slides>12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Times New Roman</vt:lpstr>
      <vt:lpstr>Office Theme</vt:lpstr>
      <vt:lpstr>                                       DEPARTMENT OF COMPUTER SCIENCE ENGINEERING Session 2025-2026    Project Presentation Predictive Irrigation Scheduling</vt:lpstr>
      <vt:lpstr>PowerPoint Presentation</vt:lpstr>
      <vt:lpstr>Problem Statement: SIH-1554</vt:lpstr>
      <vt:lpstr>Objectives:</vt:lpstr>
      <vt:lpstr>Project Scope:</vt:lpstr>
      <vt:lpstr>PowerPoint Presentation</vt:lpstr>
      <vt:lpstr>PowerPoint Presentation</vt:lpstr>
      <vt:lpstr>Technology Used: </vt:lpstr>
      <vt:lpstr>Project Flowchart:</vt:lpstr>
      <vt:lpstr>Expected Project Outcome: </vt:lpstr>
      <vt:lpstr>Conclusion: </vt:lpstr>
      <vt:lpstr>Thank You 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Omendra Rajput</dc:creator>
  <cp:lastModifiedBy>Omendra Rajput</cp:lastModifiedBy>
  <cp:revision>4</cp:revision>
  <dcterms:modified xsi:type="dcterms:W3CDTF">2026-05-06T10:44:50Z</dcterms:modified>
</cp:coreProperties>
</file>